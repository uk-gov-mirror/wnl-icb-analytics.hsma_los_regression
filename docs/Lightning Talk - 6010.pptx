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8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9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  <p:sldMasterId id="2147483667" r:id="rId3"/>
    <p:sldMasterId id="2147483670" r:id="rId4"/>
    <p:sldMasterId id="2147483677" r:id="rId5"/>
    <p:sldMasterId id="2147483684" r:id="rId6"/>
    <p:sldMasterId id="2147483687" r:id="rId7"/>
    <p:sldMasterId id="2147483690" r:id="rId8"/>
    <p:sldMasterId id="2147483693" r:id="rId9"/>
    <p:sldMasterId id="2147483700" r:id="rId10"/>
  </p:sldMasterIdLst>
  <p:notesMasterIdLst>
    <p:notesMasterId r:id="rId17"/>
  </p:notesMasterIdLst>
  <p:sldIdLst>
    <p:sldId id="257" r:id="rId11"/>
    <p:sldId id="256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10" Type="http://schemas.openxmlformats.org/officeDocument/2006/relationships/slideMaster" Target="slideMasters/slideMaster10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10DA6-4EEA-4A1E-8656-C74041C93B7F}" type="datetimeFigureOut">
              <a:rPr lang="en-GB" smtClean="0"/>
              <a:t>23/06/2025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673CB-C1A7-4FB6-ABD8-C439E11B6E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197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Length of Stay (LoS) is defined as the number of overnight days a patient spends in a hospital bed.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3CB-C1A7-4FB6-ABD8-C439E11B6E6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51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Obstacles:</a:t>
            </a:r>
          </a:p>
          <a:p>
            <a:r>
              <a:rPr lang="en-GB" dirty="0"/>
              <a:t>    Commissioning data is difficult to work with (data quality in reporting).</a:t>
            </a:r>
          </a:p>
          <a:p>
            <a:r>
              <a:rPr lang="en-GB" dirty="0"/>
              <a:t>    Effort spent on pulling and validating data.</a:t>
            </a:r>
          </a:p>
          <a:p>
            <a:r>
              <a:rPr lang="en-GB" dirty="0"/>
              <a:t>Justification for 1 model per site.</a:t>
            </a:r>
          </a:p>
          <a:p>
            <a:r>
              <a:rPr lang="en-GB" dirty="0"/>
              <a:t>Iterative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673CB-C1A7-4FB6-ABD8-C439E11B6E6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942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7">
            <a:extLst>
              <a:ext uri="{FF2B5EF4-FFF2-40B4-BE49-F238E27FC236}">
                <a16:creationId xmlns:a16="http://schemas.microsoft.com/office/drawing/2014/main" id="{7D23A897-ABD2-F33D-D834-5A7E6FBBA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688" y="2610196"/>
            <a:ext cx="5204279" cy="28263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E4B1D18-6B59-17C9-FE2A-77AF0F7E5D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88" y="5802284"/>
            <a:ext cx="5204278" cy="624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700">
                <a:solidFill>
                  <a:schemeClr val="tx2"/>
                </a:solidFill>
              </a:defRPr>
            </a:lvl2pPr>
            <a:lvl3pPr marL="914400" indent="0">
              <a:buNone/>
              <a:defRPr sz="1700">
                <a:solidFill>
                  <a:schemeClr val="tx2"/>
                </a:solidFill>
              </a:defRPr>
            </a:lvl3pPr>
            <a:lvl4pPr marL="1371600" indent="0">
              <a:buNone/>
              <a:defRPr sz="1700">
                <a:solidFill>
                  <a:schemeClr val="tx2"/>
                </a:solidFill>
              </a:defRPr>
            </a:lvl4pPr>
            <a:lvl5pPr marL="1828800" indent="0">
              <a:buNone/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A66A7C-4073-470F-6A33-06A2C655CD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740" b="23166"/>
          <a:stretch/>
        </p:blipFill>
        <p:spPr>
          <a:xfrm>
            <a:off x="5783515" y="1455972"/>
            <a:ext cx="6408485" cy="540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56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7">
            <a:extLst>
              <a:ext uri="{FF2B5EF4-FFF2-40B4-BE49-F238E27FC236}">
                <a16:creationId xmlns:a16="http://schemas.microsoft.com/office/drawing/2014/main" id="{7D23A897-ABD2-F33D-D834-5A7E6FBBA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1563" y="2610196"/>
            <a:ext cx="5204279" cy="28263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E4B1D18-6B59-17C9-FE2A-77AF0F7E5D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61563" y="5802284"/>
            <a:ext cx="5204278" cy="624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700">
                <a:solidFill>
                  <a:schemeClr val="tx2"/>
                </a:solidFill>
              </a:defRPr>
            </a:lvl2pPr>
            <a:lvl3pPr marL="914400" indent="0">
              <a:buNone/>
              <a:defRPr sz="1700">
                <a:solidFill>
                  <a:schemeClr val="tx2"/>
                </a:solidFill>
              </a:defRPr>
            </a:lvl3pPr>
            <a:lvl4pPr marL="1371600" indent="0">
              <a:buNone/>
              <a:defRPr sz="1700">
                <a:solidFill>
                  <a:schemeClr val="tx2"/>
                </a:solidFill>
              </a:defRPr>
            </a:lvl4pPr>
            <a:lvl5pPr marL="1828800" indent="0">
              <a:buNone/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0308F-DC22-4D08-5BC3-2066A84C4E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555" b="23166"/>
          <a:stretch/>
        </p:blipFill>
        <p:spPr>
          <a:xfrm>
            <a:off x="0" y="1455972"/>
            <a:ext cx="6275109" cy="540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94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F8A50-A035-B1BB-4A88-0D30D9E27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E3711-53B1-67C4-67E9-0971B8B10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0C9CD-313E-380D-0870-8C41F1787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8212-C45C-4666-BEF0-ABF0A69820DE}" type="datetimeFigureOut">
              <a:rPr lang="en-GB" smtClean="0"/>
              <a:t>23/06/2025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5EE61-9077-BA24-E027-F66162E2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67F50-F634-BDA9-E653-7573A4EA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190A-DAAB-43C5-92BF-551702E5DB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58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FADF19D-1D9F-DCE1-68E9-1B516B3BAF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813FC3B-AECF-5576-61D1-79CCE59CEB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8531" r="64200" b="35058"/>
          <a:stretch/>
        </p:blipFill>
        <p:spPr>
          <a:xfrm>
            <a:off x="5148777" y="0"/>
            <a:ext cx="7043224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018721-F1FE-2400-3F46-A4E46954A8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88" y="3615397"/>
            <a:ext cx="5476764" cy="2701566"/>
          </a:xfrm>
          <a:prstGeom prst="rect">
            <a:avLst/>
          </a:prstGeo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3200">
                <a:solidFill>
                  <a:schemeClr val="accent3"/>
                </a:solidFill>
              </a:defRPr>
            </a:lvl2pPr>
            <a:lvl3pPr marL="914400" indent="0" algn="ctr">
              <a:buNone/>
              <a:defRPr>
                <a:solidFill>
                  <a:schemeClr val="accent3"/>
                </a:solidFill>
              </a:defRPr>
            </a:lvl3pPr>
            <a:lvl4pPr marL="1371600" indent="0" algn="ctr">
              <a:buNone/>
              <a:defRPr>
                <a:solidFill>
                  <a:schemeClr val="accent3"/>
                </a:solidFill>
              </a:defRPr>
            </a:lvl4pPr>
            <a:lvl5pPr marL="1828800" indent="0" algn="ctr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/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6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35BD23B-A570-70DB-E3A9-BD900EAB0E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0470" y="269097"/>
            <a:ext cx="3204552" cy="9542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3F521CC-C68D-B3DF-86A9-AEEB62980F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668" t="57654"/>
          <a:stretch/>
        </p:blipFill>
        <p:spPr>
          <a:xfrm>
            <a:off x="0" y="-1"/>
            <a:ext cx="8560470" cy="6387303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1A4F3A0-4481-3C70-6A6A-F77765F497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13279" y="3615397"/>
            <a:ext cx="5476764" cy="2701566"/>
          </a:xfrm>
          <a:prstGeom prst="rect">
            <a:avLst/>
          </a:prstGeo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3200">
                <a:solidFill>
                  <a:schemeClr val="accent3"/>
                </a:solidFill>
              </a:defRPr>
            </a:lvl2pPr>
            <a:lvl3pPr marL="914400" indent="0" algn="ctr">
              <a:buNone/>
              <a:defRPr>
                <a:solidFill>
                  <a:schemeClr val="accent3"/>
                </a:solidFill>
              </a:defRPr>
            </a:lvl3pPr>
            <a:lvl4pPr marL="1371600" indent="0" algn="ctr">
              <a:buNone/>
              <a:defRPr>
                <a:solidFill>
                  <a:schemeClr val="accent3"/>
                </a:solidFill>
              </a:defRPr>
            </a:lvl4pPr>
            <a:lvl5pPr marL="1828800" indent="0" algn="ctr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/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81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FADF19D-1D9F-DCE1-68E9-1B516B3BAF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813FC3B-AECF-5576-61D1-79CCE59CEB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0743" r="65080" b="38221"/>
          <a:stretch/>
        </p:blipFill>
        <p:spPr>
          <a:xfrm>
            <a:off x="6096001" y="-1"/>
            <a:ext cx="6096000" cy="685800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018721-F1FE-2400-3F46-A4E46954A8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88" y="3615397"/>
            <a:ext cx="5476764" cy="2701566"/>
          </a:xfrm>
          <a:prstGeom prst="rect">
            <a:avLst/>
          </a:prstGeo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3200">
                <a:solidFill>
                  <a:schemeClr val="accent3"/>
                </a:solidFill>
              </a:defRPr>
            </a:lvl2pPr>
            <a:lvl3pPr marL="914400" indent="0" algn="ctr">
              <a:buNone/>
              <a:defRPr>
                <a:solidFill>
                  <a:schemeClr val="accent3"/>
                </a:solidFill>
              </a:defRPr>
            </a:lvl3pPr>
            <a:lvl4pPr marL="1371600" indent="0" algn="ctr">
              <a:buNone/>
              <a:defRPr>
                <a:solidFill>
                  <a:schemeClr val="accent3"/>
                </a:solidFill>
              </a:defRPr>
            </a:lvl4pPr>
            <a:lvl5pPr marL="1828800" indent="0" algn="ctr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/>
              <a:t>Section title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ADC3FAA-3149-7FAA-C9CE-A929C12538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0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1A4F3A0-4481-3C70-6A6A-F77765F497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13279" y="3615397"/>
            <a:ext cx="5476764" cy="2701566"/>
          </a:xfrm>
          <a:prstGeom prst="rect">
            <a:avLst/>
          </a:prstGeo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3200">
                <a:solidFill>
                  <a:schemeClr val="accent3"/>
                </a:solidFill>
              </a:defRPr>
            </a:lvl2pPr>
            <a:lvl3pPr marL="914400" indent="0" algn="ctr">
              <a:buNone/>
              <a:defRPr>
                <a:solidFill>
                  <a:schemeClr val="accent3"/>
                </a:solidFill>
              </a:defRPr>
            </a:lvl3pPr>
            <a:lvl4pPr marL="1371600" indent="0" algn="ctr">
              <a:buNone/>
              <a:defRPr>
                <a:solidFill>
                  <a:schemeClr val="accent3"/>
                </a:solidFill>
              </a:defRPr>
            </a:lvl4pPr>
            <a:lvl5pPr marL="1828800" indent="0" algn="ctr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/>
              <a:t>Section title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E653D1-0167-6798-2CDF-1CFED3B98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C6C613E-B73B-A520-E304-DFE13D47C2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181D14F-D588-1887-E72C-0465A9579EC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6325" t="20742" b="38222"/>
          <a:stretch/>
        </p:blipFill>
        <p:spPr>
          <a:xfrm>
            <a:off x="0" y="1"/>
            <a:ext cx="5878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1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6B9519C-3FC3-CD7D-3A03-726071CB3E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4"/>
            <a:ext cx="7514492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1496D6-53B2-DD7D-5D35-8CC725EA1D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25624"/>
            <a:ext cx="10515599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12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8B86AFB-23C4-BDE8-2E3F-8BFA65BD277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10D0A4-4FCD-C44C-DFFE-6B884284A89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A4360E-C538-A935-88BA-9919B760E7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4"/>
            <a:ext cx="7514492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66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lumn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E00941-EE8C-4995-26B0-3FDB35311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0073" y="365125"/>
            <a:ext cx="3822032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br>
              <a:rPr lang="en-GB"/>
            </a:br>
            <a:r>
              <a:rPr lang="en-GB"/>
              <a:t>on two lines </a:t>
            </a: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CDFAB44-08B5-95BB-E304-68D50AA226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00073" y="1825625"/>
            <a:ext cx="7174832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DEFEB7BB-ED9C-2867-1AA9-0908E20FE0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5062"/>
            <a:ext cx="4106778" cy="68478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308755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lumn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3FC8D-F21A-A546-3FE8-CE039CE1FA1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857500"/>
            <a:ext cx="3932237" cy="3011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Content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00871A-8D52-D2DD-8DFB-81BA2E1B7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96950"/>
            <a:ext cx="3932237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br>
              <a:rPr lang="en-GB"/>
            </a:br>
            <a:r>
              <a:rPr lang="en-GB"/>
              <a:t>on two lines 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CCF480-DFF0-D7EF-03C0-2683438FA1D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1480932"/>
            <a:ext cx="6172200" cy="438011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Add image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62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dia Placeholder 5">
            <a:extLst>
              <a:ext uri="{FF2B5EF4-FFF2-40B4-BE49-F238E27FC236}">
                <a16:creationId xmlns:a16="http://schemas.microsoft.com/office/drawing/2014/main" id="{A9A6D927-538E-5EC0-9D39-52B7B15B242F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1589881" y="1562100"/>
            <a:ext cx="9012238" cy="46156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4001494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B88C422-B0F0-EC15-8927-C1E5FBCB8FC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38102"/>
            <a:ext cx="12191999" cy="54148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646335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6B9519C-3FC3-CD7D-3A03-726071CB3E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8282"/>
            <a:ext cx="10515598" cy="645529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1496D6-53B2-DD7D-5D35-8CC725EA1D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2518610"/>
            <a:ext cx="10515599" cy="36583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6EFD79A-3283-D18D-0291-FBCDE2E713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6B9E1EE-20D8-ABAC-BD89-C09E3AA95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1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8B86AFB-23C4-BDE8-2E3F-8BFA65BD277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518609"/>
            <a:ext cx="5181600" cy="36583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10D0A4-4FCD-C44C-DFFE-6B884284A89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518609"/>
            <a:ext cx="5181600" cy="36583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14EA0-CCC7-F27F-4E9A-9B6464D9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8282"/>
            <a:ext cx="10515598" cy="645529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9DD4E6C-0914-35F6-AE7B-AA1A58D0E1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4A419BB-E8A7-ADA8-A0A2-9F1A30DED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12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lumn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E00941-EE8C-4995-26B0-3FDB35311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0072" y="1569279"/>
            <a:ext cx="7174831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CDFAB44-08B5-95BB-E304-68D50AA226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00073" y="3119095"/>
            <a:ext cx="7174832" cy="32244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DEFEB7BB-ED9C-2867-1AA9-0908E20FE0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568282"/>
            <a:ext cx="4106778" cy="52846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CD2E45F-8A93-E257-A3A1-14C9C0CABF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6CFCA6-94B9-84C0-6E40-0C8887312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44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lumn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3FC8D-F21A-A546-3FE8-CE039CE1FA1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3746" y="3144252"/>
            <a:ext cx="3932237" cy="27247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Content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00871A-8D52-D2DD-8DFB-81BA2E1B7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31937"/>
            <a:ext cx="3932237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br>
              <a:rPr lang="en-GB"/>
            </a:br>
            <a:r>
              <a:rPr lang="en-GB"/>
              <a:t>on two lines 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CCF480-DFF0-D7EF-03C0-2683438FA1D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1531936"/>
            <a:ext cx="6172200" cy="432911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Add image here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650EAB2-51F4-87A2-B0CB-E5C4FB9FFF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3F6B695-EDFD-DA5A-AD67-74DC57096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16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dia Placeholder 5">
            <a:extLst>
              <a:ext uri="{FF2B5EF4-FFF2-40B4-BE49-F238E27FC236}">
                <a16:creationId xmlns:a16="http://schemas.microsoft.com/office/drawing/2014/main" id="{A9A6D927-538E-5EC0-9D39-52B7B15B242F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1589881" y="1562100"/>
            <a:ext cx="9012238" cy="46156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1D698A0-1B36-5AF7-B1F9-10EBEEAA4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CC03621-D81E-35EF-DA7F-EC8004E24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19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220D40F7-8621-5BF0-B235-FBA159AA41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38102"/>
            <a:ext cx="12191999" cy="54148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6165469-4CEF-122E-5649-FF13332EE4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BE92C1D-6108-B0FC-6C1B-A8B3621AF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48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7">
            <a:extLst>
              <a:ext uri="{FF2B5EF4-FFF2-40B4-BE49-F238E27FC236}">
                <a16:creationId xmlns:a16="http://schemas.microsoft.com/office/drawing/2014/main" id="{7D23A897-ABD2-F33D-D834-5A7E6FBBA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6688" y="2610196"/>
            <a:ext cx="5204279" cy="28263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E4B1D18-6B59-17C9-FE2A-77AF0F7E5D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88" y="5802284"/>
            <a:ext cx="5204278" cy="624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700">
                <a:solidFill>
                  <a:schemeClr val="tx2"/>
                </a:solidFill>
              </a:defRPr>
            </a:lvl2pPr>
            <a:lvl3pPr marL="914400" indent="0">
              <a:buNone/>
              <a:defRPr sz="1700">
                <a:solidFill>
                  <a:schemeClr val="tx2"/>
                </a:solidFill>
              </a:defRPr>
            </a:lvl3pPr>
            <a:lvl4pPr marL="1371600" indent="0">
              <a:buNone/>
              <a:defRPr sz="1700">
                <a:solidFill>
                  <a:schemeClr val="tx2"/>
                </a:solidFill>
              </a:defRPr>
            </a:lvl4pPr>
            <a:lvl5pPr marL="1828800" indent="0">
              <a:buNone/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A66A7C-4073-470F-6A33-06A2C655CD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740" b="23166"/>
          <a:stretch/>
        </p:blipFill>
        <p:spPr>
          <a:xfrm>
            <a:off x="5783515" y="1455972"/>
            <a:ext cx="6408485" cy="540202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1BF1544-FBCB-6781-51C2-86B9E95EE0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740" b="23166"/>
          <a:stretch/>
        </p:blipFill>
        <p:spPr>
          <a:xfrm>
            <a:off x="5783515" y="1455972"/>
            <a:ext cx="6408485" cy="540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607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7">
            <a:extLst>
              <a:ext uri="{FF2B5EF4-FFF2-40B4-BE49-F238E27FC236}">
                <a16:creationId xmlns:a16="http://schemas.microsoft.com/office/drawing/2014/main" id="{7D23A897-ABD2-F33D-D834-5A7E6FBBA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1563" y="2610196"/>
            <a:ext cx="5204279" cy="28263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E4B1D18-6B59-17C9-FE2A-77AF0F7E5D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61563" y="5802284"/>
            <a:ext cx="5204278" cy="624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700">
                <a:solidFill>
                  <a:schemeClr val="tx2"/>
                </a:solidFill>
              </a:defRPr>
            </a:lvl2pPr>
            <a:lvl3pPr marL="914400" indent="0">
              <a:buNone/>
              <a:defRPr sz="1700">
                <a:solidFill>
                  <a:schemeClr val="tx2"/>
                </a:solidFill>
              </a:defRPr>
            </a:lvl3pPr>
            <a:lvl4pPr marL="1371600" indent="0">
              <a:buNone/>
              <a:defRPr sz="1700">
                <a:solidFill>
                  <a:schemeClr val="tx2"/>
                </a:solidFill>
              </a:defRPr>
            </a:lvl4pPr>
            <a:lvl5pPr marL="1828800" indent="0">
              <a:buNone/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0308F-DC22-4D08-5BC3-2066A84C4E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555" b="23166"/>
          <a:stretch/>
        </p:blipFill>
        <p:spPr>
          <a:xfrm>
            <a:off x="0" y="1455972"/>
            <a:ext cx="6275109" cy="540202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1B4C7C4-1EF5-DA90-71A2-35293135E5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555" b="23166"/>
          <a:stretch/>
        </p:blipFill>
        <p:spPr>
          <a:xfrm>
            <a:off x="0" y="1455972"/>
            <a:ext cx="6275109" cy="540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70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FADF19D-1D9F-DCE1-68E9-1B516B3BAF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813FC3B-AECF-5576-61D1-79CCE59CEB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8531" r="64200" b="35058"/>
          <a:stretch/>
        </p:blipFill>
        <p:spPr>
          <a:xfrm>
            <a:off x="5148777" y="0"/>
            <a:ext cx="7043224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018721-F1FE-2400-3F46-A4E46954A8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88" y="3615397"/>
            <a:ext cx="5476764" cy="2701566"/>
          </a:xfrm>
          <a:prstGeom prst="rect">
            <a:avLst/>
          </a:prstGeo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3200">
                <a:solidFill>
                  <a:schemeClr val="accent3"/>
                </a:solidFill>
              </a:defRPr>
            </a:lvl2pPr>
            <a:lvl3pPr marL="914400" indent="0" algn="ctr">
              <a:buNone/>
              <a:defRPr>
                <a:solidFill>
                  <a:schemeClr val="accent3"/>
                </a:solidFill>
              </a:defRPr>
            </a:lvl3pPr>
            <a:lvl4pPr marL="1371600" indent="0" algn="ctr">
              <a:buNone/>
              <a:defRPr>
                <a:solidFill>
                  <a:schemeClr val="accent3"/>
                </a:solidFill>
              </a:defRPr>
            </a:lvl4pPr>
            <a:lvl5pPr marL="1828800" indent="0" algn="ctr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/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253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35BD23B-A570-70DB-E3A9-BD900EAB0E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0470" y="269097"/>
            <a:ext cx="3204552" cy="9542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3F521CC-C68D-B3DF-86A9-AEEB62980F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668" t="57654"/>
          <a:stretch/>
        </p:blipFill>
        <p:spPr>
          <a:xfrm>
            <a:off x="0" y="-1"/>
            <a:ext cx="8560470" cy="6387303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1A4F3A0-4481-3C70-6A6A-F77765F497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13279" y="3615397"/>
            <a:ext cx="5476764" cy="2701566"/>
          </a:xfrm>
          <a:prstGeom prst="rect">
            <a:avLst/>
          </a:prstGeo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3200">
                <a:solidFill>
                  <a:schemeClr val="accent3"/>
                </a:solidFill>
              </a:defRPr>
            </a:lvl2pPr>
            <a:lvl3pPr marL="914400" indent="0" algn="ctr">
              <a:buNone/>
              <a:defRPr>
                <a:solidFill>
                  <a:schemeClr val="accent3"/>
                </a:solidFill>
              </a:defRPr>
            </a:lvl3pPr>
            <a:lvl4pPr marL="1371600" indent="0" algn="ctr">
              <a:buNone/>
              <a:defRPr>
                <a:solidFill>
                  <a:schemeClr val="accent3"/>
                </a:solidFill>
              </a:defRPr>
            </a:lvl4pPr>
            <a:lvl5pPr marL="1828800" indent="0" algn="ctr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/>
              <a:t>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38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FADF19D-1D9F-DCE1-68E9-1B516B3BAF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813FC3B-AECF-5576-61D1-79CCE59CEB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0743" r="65080" b="38221"/>
          <a:stretch/>
        </p:blipFill>
        <p:spPr>
          <a:xfrm>
            <a:off x="6096001" y="-1"/>
            <a:ext cx="6096000" cy="685800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018721-F1FE-2400-3F46-A4E46954A8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88" y="3615397"/>
            <a:ext cx="5476764" cy="2701566"/>
          </a:xfrm>
          <a:prstGeom prst="rect">
            <a:avLst/>
          </a:prstGeo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3200">
                <a:solidFill>
                  <a:schemeClr val="accent3"/>
                </a:solidFill>
              </a:defRPr>
            </a:lvl2pPr>
            <a:lvl3pPr marL="914400" indent="0" algn="ctr">
              <a:buNone/>
              <a:defRPr>
                <a:solidFill>
                  <a:schemeClr val="accent3"/>
                </a:solidFill>
              </a:defRPr>
            </a:lvl3pPr>
            <a:lvl4pPr marL="1371600" indent="0" algn="ctr">
              <a:buNone/>
              <a:defRPr>
                <a:solidFill>
                  <a:schemeClr val="accent3"/>
                </a:solidFill>
              </a:defRPr>
            </a:lvl4pPr>
            <a:lvl5pPr marL="1828800" indent="0" algn="ctr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/>
              <a:t>Section title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ADC3FAA-3149-7FAA-C9CE-A929C12538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809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_on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1A4F3A0-4481-3C70-6A6A-F77765F497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13279" y="3615397"/>
            <a:ext cx="5476764" cy="2701566"/>
          </a:xfrm>
          <a:prstGeom prst="rect">
            <a:avLst/>
          </a:prstGeo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3200">
                <a:solidFill>
                  <a:schemeClr val="accent3"/>
                </a:solidFill>
              </a:defRPr>
            </a:lvl2pPr>
            <a:lvl3pPr marL="914400" indent="0" algn="ctr">
              <a:buNone/>
              <a:defRPr>
                <a:solidFill>
                  <a:schemeClr val="accent3"/>
                </a:solidFill>
              </a:defRPr>
            </a:lvl3pPr>
            <a:lvl4pPr marL="1371600" indent="0" algn="ctr">
              <a:buNone/>
              <a:defRPr>
                <a:solidFill>
                  <a:schemeClr val="accent3"/>
                </a:solidFill>
              </a:defRPr>
            </a:lvl4pPr>
            <a:lvl5pPr marL="1828800" indent="0" algn="ctr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/>
              <a:t>Section title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0E653D1-0167-6798-2CDF-1CFED3B98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C6C613E-B73B-A520-E304-DFE13D47C2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181D14F-D588-1887-E72C-0465A9579EC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6325" t="20742" b="38222"/>
          <a:stretch/>
        </p:blipFill>
        <p:spPr>
          <a:xfrm>
            <a:off x="0" y="1"/>
            <a:ext cx="5878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49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6B9519C-3FC3-CD7D-3A03-726071CB3E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4"/>
            <a:ext cx="7514492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1496D6-53B2-DD7D-5D35-8CC725EA1D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25624"/>
            <a:ext cx="10515599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335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8B86AFB-23C4-BDE8-2E3F-8BFA65BD277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10D0A4-4FCD-C44C-DFFE-6B884284A89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A4360E-C538-A935-88BA-9919B760E7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4"/>
            <a:ext cx="7514492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493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lumn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E00941-EE8C-4995-26B0-3FDB35311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0073" y="365125"/>
            <a:ext cx="3822032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br>
              <a:rPr lang="en-GB"/>
            </a:br>
            <a:r>
              <a:rPr lang="en-GB"/>
              <a:t>on two lines </a:t>
            </a: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CDFAB44-08B5-95BB-E304-68D50AA226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00073" y="1825625"/>
            <a:ext cx="7174832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DEFEB7BB-ED9C-2867-1AA9-0908E20FE0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5062"/>
            <a:ext cx="4106778" cy="68478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1098231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lumn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3FC8D-F21A-A546-3FE8-CE039CE1FA1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857500"/>
            <a:ext cx="3932237" cy="3011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Content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00871A-8D52-D2DD-8DFB-81BA2E1B7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96950"/>
            <a:ext cx="3932237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br>
              <a:rPr lang="en-GB"/>
            </a:br>
            <a:r>
              <a:rPr lang="en-GB"/>
              <a:t>on two lines 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CCF480-DFF0-D7EF-03C0-2683438FA1D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1480932"/>
            <a:ext cx="6172200" cy="438011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Add image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884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dia Placeholder 5">
            <a:extLst>
              <a:ext uri="{FF2B5EF4-FFF2-40B4-BE49-F238E27FC236}">
                <a16:creationId xmlns:a16="http://schemas.microsoft.com/office/drawing/2014/main" id="{A9A6D927-538E-5EC0-9D39-52B7B15B242F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1589881" y="1562100"/>
            <a:ext cx="9012238" cy="46156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601291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3B88C422-B0F0-EC15-8927-C1E5FBCB8FC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38102"/>
            <a:ext cx="12191999" cy="54148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</p:spTree>
    <p:extLst>
      <p:ext uri="{BB962C8B-B14F-4D97-AF65-F5344CB8AC3E}">
        <p14:creationId xmlns:p14="http://schemas.microsoft.com/office/powerpoint/2010/main" val="32878379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6B9519C-3FC3-CD7D-3A03-726071CB3E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8282"/>
            <a:ext cx="10515598" cy="645529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1496D6-53B2-DD7D-5D35-8CC725EA1D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2518610"/>
            <a:ext cx="10515599" cy="36583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6EFD79A-3283-D18D-0291-FBCDE2E713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6B9E1EE-20D8-ABAC-BD89-C09E3AA95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007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8B86AFB-23C4-BDE8-2E3F-8BFA65BD277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518609"/>
            <a:ext cx="5181600" cy="36583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10D0A4-4FCD-C44C-DFFE-6B884284A89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518609"/>
            <a:ext cx="5181600" cy="36583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14EA0-CCC7-F27F-4E9A-9B6464D9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8282"/>
            <a:ext cx="10515598" cy="645529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9DD4E6C-0914-35F6-AE7B-AA1A58D0E1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4A419BB-E8A7-ADA8-A0A2-9F1A30DED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599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lumn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E00941-EE8C-4995-26B0-3FDB35311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0072" y="1569279"/>
            <a:ext cx="7174831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CDFAB44-08B5-95BB-E304-68D50AA226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00073" y="3119095"/>
            <a:ext cx="7174832" cy="32244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Content</a:t>
            </a:r>
            <a:endParaRPr lang="en-US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DEFEB7BB-ED9C-2867-1AA9-0908E20FE0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568282"/>
            <a:ext cx="4106778" cy="52846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CD2E45F-8A93-E257-A3A1-14C9C0CABF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6CFCA6-94B9-84C0-6E40-0C8887312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706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lumn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3FC8D-F21A-A546-3FE8-CE039CE1FA1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3746" y="3144252"/>
            <a:ext cx="3932237" cy="27247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Content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00871A-8D52-D2DD-8DFB-81BA2E1B7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31937"/>
            <a:ext cx="3932237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/>
              <a:t>Slide Title</a:t>
            </a:r>
            <a:br>
              <a:rPr lang="en-GB"/>
            </a:br>
            <a:r>
              <a:rPr lang="en-GB"/>
              <a:t>on two lines 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CCF480-DFF0-D7EF-03C0-2683438FA1D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1531936"/>
            <a:ext cx="6172200" cy="432911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Add image here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650EAB2-51F4-87A2-B0CB-E5C4FB9FFF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3F6B695-EDFD-DA5A-AD67-74DC57096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205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dia Placeholder 5">
            <a:extLst>
              <a:ext uri="{FF2B5EF4-FFF2-40B4-BE49-F238E27FC236}">
                <a16:creationId xmlns:a16="http://schemas.microsoft.com/office/drawing/2014/main" id="{A9A6D927-538E-5EC0-9D39-52B7B15B242F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1589881" y="1562100"/>
            <a:ext cx="9012238" cy="46156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1D698A0-1B36-5AF7-B1F9-10EBEEAA4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CC03621-D81E-35EF-DA7F-EC8004E24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7335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220D40F7-8621-5BF0-B235-FBA159AA41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38102"/>
            <a:ext cx="12191999" cy="54148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6165469-4CEF-122E-5649-FF13332EE4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BE92C1D-6108-B0FC-6C1B-A8B3621AF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9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.sv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9" Type="http://schemas.openxmlformats.org/officeDocument/2006/relationships/image" Target="../media/image2.sv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13FFE64-CD79-05A5-17FD-803CBCC59B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FF43643-B73C-7FBE-EF96-AB11B390E0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9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42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58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37AB4A2-39B6-3E6D-E805-7C738241C32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60470" y="269097"/>
            <a:ext cx="3204552" cy="95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25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55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13FFE64-CD79-05A5-17FD-803CBCC59B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FF43643-B73C-7FBE-EF96-AB11B390E0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5B680C4-935B-0F78-44BB-D44CA3B2D6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870" y="269097"/>
            <a:ext cx="3204552" cy="95424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FABE915-D7E4-F0A9-67E8-1EA5F04A28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6427" y="514442"/>
            <a:ext cx="1327677" cy="5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48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06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8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37AB4A2-39B6-3E6D-E805-7C738241C32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60470" y="269097"/>
            <a:ext cx="3204552" cy="95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51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63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9931263/#abstract1" TargetMode="External"/><Relationship Id="rId2" Type="http://schemas.openxmlformats.org/officeDocument/2006/relationships/hyperlink" Target="https://journals.plos.org/plosone/article?id=10.1371/journal.pone.0109684#pone.0109684.s001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B2082-2E81-4966-2F3E-41EAF745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Understanding the Drivers of Length of Stay</a:t>
            </a:r>
            <a:br>
              <a:rPr lang="en-GB" sz="4000" dirty="0"/>
            </a:br>
            <a:br>
              <a:rPr lang="en-GB" sz="4000" dirty="0"/>
            </a:br>
            <a:r>
              <a:rPr lang="en-GB" sz="1600" dirty="0"/>
              <a:t>Jake Kealey on behalf of North Central London ICB - #6010</a:t>
            </a:r>
            <a:endParaRPr lang="en-GB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708B7-77CC-A6D2-D027-B2E03479E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24/06/2025</a:t>
            </a:r>
          </a:p>
        </p:txBody>
      </p:sp>
    </p:spTree>
    <p:extLst>
      <p:ext uri="{BB962C8B-B14F-4D97-AF65-F5344CB8AC3E}">
        <p14:creationId xmlns:p14="http://schemas.microsoft.com/office/powerpoint/2010/main" val="11957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161C60-D6C5-C7A8-7841-67D656FB55A6}"/>
              </a:ext>
            </a:extLst>
          </p:cNvPr>
          <p:cNvSpPr txBox="1">
            <a:spLocks/>
          </p:cNvSpPr>
          <p:nvPr/>
        </p:nvSpPr>
        <p:spPr>
          <a:xfrm>
            <a:off x="838200" y="1231106"/>
            <a:ext cx="10515600" cy="12517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Project: Create a machine learning model to understand how Length of Stay (LoS) correlates with different features and what insights can be discovered.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How can such insights be used to influence strategy and decision making?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0C6395-6423-27B2-6D1C-2E51EF871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 and Motivation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ECBEF1-0A4B-8DC5-3C69-C8BBAC47A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586" y="2800350"/>
            <a:ext cx="6904829" cy="369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55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A1920C-5D33-4B2F-30CF-07D1272D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Lessons Learnt from Existing Research Literature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72043-44CC-324B-6769-95A48B4C49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Key takeaways:</a:t>
            </a:r>
          </a:p>
          <a:p>
            <a:r>
              <a:rPr lang="en-GB" sz="2400" dirty="0"/>
              <a:t>Modelling LoS is notoriously complex and difficult.</a:t>
            </a:r>
          </a:p>
          <a:p>
            <a:r>
              <a:rPr lang="en-GB" sz="2400" dirty="0"/>
              <a:t>Commonly used features include:</a:t>
            </a:r>
          </a:p>
          <a:p>
            <a:pPr marL="457200" lvl="1" indent="0">
              <a:buNone/>
            </a:pPr>
            <a:r>
              <a:rPr lang="en-GB" sz="2000" b="1" dirty="0">
                <a:solidFill>
                  <a:schemeClr val="tx2"/>
                </a:solidFill>
              </a:rPr>
              <a:t>Age, Gender, Previous Admissions, Primary Diagnosis, Comorbidity, Martial Status, Admission Type</a:t>
            </a:r>
          </a:p>
          <a:p>
            <a:r>
              <a:rPr lang="en-GB" sz="2400" dirty="0"/>
              <a:t>LoS is typically modelled using a Negative Binomial or Poisson regression model.</a:t>
            </a:r>
          </a:p>
          <a:p>
            <a:endParaRPr lang="en-GB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600" dirty="0"/>
              <a:t>Papers (available online):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2"/>
                </a:solidFill>
                <a:hlinkClick r:id="rId2"/>
              </a:rPr>
              <a:t>Comparison of Regression </a:t>
            </a:r>
            <a:r>
              <a:rPr lang="en-GB" sz="1600" dirty="0">
                <a:hlinkClick r:id="rId2"/>
              </a:rPr>
              <a:t>Methods for Modelling Intensive Care Length of Stay</a:t>
            </a:r>
            <a:br>
              <a:rPr lang="en-GB" sz="1600" dirty="0"/>
            </a:br>
            <a:r>
              <a:rPr lang="en-GB" sz="1600" dirty="0">
                <a:hlinkClick r:id="rId3"/>
              </a:rPr>
              <a:t>A systematic review of the prediction of hospital length of stay: Towards a unified framework</a:t>
            </a:r>
            <a:endParaRPr lang="en-GB" sz="1600" dirty="0"/>
          </a:p>
          <a:p>
            <a:pPr marL="0" indent="0">
              <a:buNone/>
            </a:pPr>
            <a:endParaRPr lang="en-GB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04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0FE4B9-C0B8-5F54-78EF-F78C2A931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075" y="1258252"/>
            <a:ext cx="5536674" cy="30089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DFE779B-A0E2-C2D4-FC3E-B03EF5614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Python Pipeline and Design</a:t>
            </a:r>
          </a:p>
        </p:txBody>
      </p:sp>
      <p:pic>
        <p:nvPicPr>
          <p:cNvPr id="10" name="Content Placeholder 4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55E0A339-ABB9-8437-F1AA-AFFB8DC661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235" y="4477501"/>
            <a:ext cx="8577529" cy="2160000"/>
          </a:xfrm>
          <a:prstGeom prst="rect">
            <a:avLst/>
          </a:prstGeom>
        </p:spPr>
      </p:pic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DFA7998-C425-8ADB-31D0-CFB078640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251" y="1258252"/>
            <a:ext cx="5911850" cy="3008947"/>
          </a:xfrm>
        </p:spPr>
        <p:txBody>
          <a:bodyPr/>
          <a:lstStyle/>
          <a:p>
            <a:pPr marL="0" indent="0">
              <a:buNone/>
            </a:pPr>
            <a:r>
              <a:rPr lang="en-GB" sz="1600" dirty="0"/>
              <a:t>Model Design</a:t>
            </a:r>
          </a:p>
          <a:p>
            <a:r>
              <a:rPr lang="en-GB" sz="1600" dirty="0"/>
              <a:t>Features: Age, Gender, Emergency Admission</a:t>
            </a:r>
          </a:p>
          <a:p>
            <a:r>
              <a:rPr lang="en-GB" sz="1600" dirty="0"/>
              <a:t>1 model per “Major” hospital site</a:t>
            </a:r>
          </a:p>
          <a:p>
            <a:r>
              <a:rPr lang="en-GB" sz="1600" dirty="0"/>
              <a:t>Poisson Regression and Random Forest Regressor were tested</a:t>
            </a:r>
          </a:p>
          <a:p>
            <a:endParaRPr lang="en-GB" sz="1600" dirty="0"/>
          </a:p>
          <a:p>
            <a:pPr marL="0" indent="0">
              <a:buNone/>
            </a:pPr>
            <a:r>
              <a:rPr lang="en-GB" sz="1600" dirty="0"/>
              <a:t>Future Improvements:</a:t>
            </a:r>
          </a:p>
          <a:p>
            <a:r>
              <a:rPr lang="en-GB" sz="1600" dirty="0"/>
              <a:t>Additional Features: Previous Admissions, Comorbidity, Primary Diagnosis</a:t>
            </a:r>
          </a:p>
          <a:p>
            <a:pPr marL="0" indent="0">
              <a:buNone/>
            </a:pPr>
            <a:endParaRPr lang="en-GB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0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DAE81C-C39A-25D6-2B9C-22E7EAAF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Performance and Predictions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AC1C51-3434-7702-8A7E-DFA45255C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84933"/>
              </p:ext>
            </p:extLst>
          </p:nvPr>
        </p:nvGraphicFramePr>
        <p:xfrm>
          <a:off x="1038228" y="2385771"/>
          <a:ext cx="4178298" cy="3174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461">
                  <a:extLst>
                    <a:ext uri="{9D8B030D-6E8A-4147-A177-3AD203B41FA5}">
                      <a16:colId xmlns:a16="http://schemas.microsoft.com/office/drawing/2014/main" val="1979761186"/>
                    </a:ext>
                  </a:extLst>
                </a:gridCol>
                <a:gridCol w="3099837">
                  <a:extLst>
                    <a:ext uri="{9D8B030D-6E8A-4147-A177-3AD203B41FA5}">
                      <a16:colId xmlns:a16="http://schemas.microsoft.com/office/drawing/2014/main" val="2260632550"/>
                    </a:ext>
                  </a:extLst>
                </a:gridCol>
              </a:tblGrid>
              <a:tr h="352743">
                <a:tc>
                  <a:txBody>
                    <a:bodyPr/>
                    <a:lstStyle/>
                    <a:p>
                      <a:r>
                        <a:rPr lang="en-GB" sz="1400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Root Mean Squared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133691"/>
                  </a:ext>
                </a:extLst>
              </a:tr>
              <a:tr h="352743">
                <a:tc>
                  <a:txBody>
                    <a:bodyPr/>
                    <a:lstStyle/>
                    <a:p>
                      <a:r>
                        <a:rPr lang="en-GB" sz="1400" dirty="0"/>
                        <a:t>RAL01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7.6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784611"/>
                  </a:ext>
                </a:extLst>
              </a:tr>
              <a:tr h="352743">
                <a:tc>
                  <a:txBody>
                    <a:bodyPr/>
                    <a:lstStyle/>
                    <a:p>
                      <a:r>
                        <a:rPr lang="en-GB" sz="1400" dirty="0"/>
                        <a:t>RAN01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708552"/>
                  </a:ext>
                </a:extLst>
              </a:tr>
              <a:tr h="352743">
                <a:tc>
                  <a:txBody>
                    <a:bodyPr/>
                    <a:lstStyle/>
                    <a:p>
                      <a:r>
                        <a:rPr lang="en-GB" sz="1400" dirty="0"/>
                        <a:t>RAPNM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8.6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472319"/>
                  </a:ext>
                </a:extLst>
              </a:tr>
              <a:tr h="352743">
                <a:tc>
                  <a:txBody>
                    <a:bodyPr/>
                    <a:lstStyle/>
                    <a:p>
                      <a:r>
                        <a:rPr lang="en-GB" sz="1400" dirty="0"/>
                        <a:t>RKEQ4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7.9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407890"/>
                  </a:ext>
                </a:extLst>
              </a:tr>
              <a:tr h="352743">
                <a:tc>
                  <a:txBody>
                    <a:bodyPr/>
                    <a:lstStyle/>
                    <a:p>
                      <a:r>
                        <a:rPr lang="en-GB" sz="1400" dirty="0"/>
                        <a:t>RRV03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7.3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465387"/>
                  </a:ext>
                </a:extLst>
              </a:tr>
              <a:tr h="352743">
                <a:tc>
                  <a:txBody>
                    <a:bodyPr/>
                    <a:lstStyle/>
                    <a:p>
                      <a:r>
                        <a:rPr lang="en-GB" sz="1400" dirty="0"/>
                        <a:t>RRV30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995859"/>
                  </a:ext>
                </a:extLst>
              </a:tr>
              <a:tr h="352743">
                <a:tc>
                  <a:txBody>
                    <a:bodyPr/>
                    <a:lstStyle/>
                    <a:p>
                      <a:r>
                        <a:rPr lang="en-GB" sz="1400" dirty="0"/>
                        <a:t>C4M4J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417459"/>
                  </a:ext>
                </a:extLst>
              </a:tr>
              <a:tr h="352743">
                <a:tc>
                  <a:txBody>
                    <a:bodyPr/>
                    <a:lstStyle/>
                    <a:p>
                      <a:r>
                        <a:rPr lang="en-GB" sz="1400" dirty="0"/>
                        <a:t>RRVNQ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7.3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40635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40F02B8-6CBA-EC9C-25BB-475FA7954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35969"/>
            <a:ext cx="5165722" cy="387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4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01FCF7-DC6A-8B5F-D14E-D9EC2C35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Reflections and Next Steps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D39052-A586-95B0-405C-62110FD433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/>
              <a:t>Key Reflections:</a:t>
            </a:r>
          </a:p>
          <a:p>
            <a:r>
              <a:rPr lang="en-GB" sz="2000" dirty="0"/>
              <a:t>Length of Stay is an incredibly complex concept to model</a:t>
            </a:r>
          </a:p>
          <a:p>
            <a:r>
              <a:rPr lang="en-GB" sz="2000" dirty="0"/>
              <a:t>The Python pipeline built is robust and capable of being iterated and improved on</a:t>
            </a:r>
          </a:p>
          <a:p>
            <a:r>
              <a:rPr lang="en-GB" sz="2000" dirty="0"/>
              <a:t>Details on the diagnosis and activity is required for more accurate modelling</a:t>
            </a:r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Next Steps:</a:t>
            </a:r>
          </a:p>
          <a:p>
            <a:r>
              <a:rPr lang="en-GB" sz="2000" dirty="0"/>
              <a:t>Onboarding the existing Git repo to former colleagues to carry on the work</a:t>
            </a:r>
          </a:p>
          <a:p>
            <a:r>
              <a:rPr lang="en-GB" sz="2000" dirty="0"/>
              <a:t>Introduce more advanced features to improve the model</a:t>
            </a:r>
          </a:p>
        </p:txBody>
      </p:sp>
    </p:spTree>
    <p:extLst>
      <p:ext uri="{BB962C8B-B14F-4D97-AF65-F5344CB8AC3E}">
        <p14:creationId xmlns:p14="http://schemas.microsoft.com/office/powerpoint/2010/main" val="1796948402"/>
      </p:ext>
    </p:extLst>
  </p:cSld>
  <p:clrMapOvr>
    <a:masterClrMapping/>
  </p:clrMapOvr>
</p:sld>
</file>

<file path=ppt/theme/theme1.xml><?xml version="1.0" encoding="utf-8"?>
<a:theme xmlns:a="http://schemas.openxmlformats.org/drawingml/2006/main" name="NCL 2425">
  <a:themeElements>
    <a:clrScheme name="ICS">
      <a:dk1>
        <a:srgbClr val="242853"/>
      </a:dk1>
      <a:lt1>
        <a:sysClr val="window" lastClr="FFFFFF"/>
      </a:lt1>
      <a:dk2>
        <a:srgbClr val="000000"/>
      </a:dk2>
      <a:lt2>
        <a:srgbClr val="E7E6E6"/>
      </a:lt2>
      <a:accent1>
        <a:srgbClr val="8136CD"/>
      </a:accent1>
      <a:accent2>
        <a:srgbClr val="D12D8A"/>
      </a:accent2>
      <a:accent3>
        <a:srgbClr val="6CB52D"/>
      </a:accent3>
      <a:accent4>
        <a:srgbClr val="408DB4"/>
      </a:accent4>
      <a:accent5>
        <a:srgbClr val="6796F7"/>
      </a:accent5>
      <a:accent6>
        <a:srgbClr val="242853"/>
      </a:accent6>
      <a:hlink>
        <a:srgbClr val="0563C1"/>
      </a:hlink>
      <a:folHlink>
        <a:srgbClr val="954F72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CL 2425" id="{C9A31FF4-C18C-47AA-BD33-06092DF32654}" vid="{2AE9E239-373A-4318-809C-8445D4EFC08E}"/>
    </a:ext>
  </a:extLst>
</a:theme>
</file>

<file path=ppt/theme/theme2.xml><?xml version="1.0" encoding="utf-8"?>
<a:theme xmlns:a="http://schemas.openxmlformats.org/drawingml/2006/main" name="Section Title_ICS">
  <a:themeElements>
    <a:clrScheme name="NCL ICS">
      <a:dk1>
        <a:srgbClr val="242853"/>
      </a:dk1>
      <a:lt1>
        <a:srgbClr val="FFFFFF"/>
      </a:lt1>
      <a:dk2>
        <a:srgbClr val="242853"/>
      </a:dk2>
      <a:lt2>
        <a:srgbClr val="FEFFFF"/>
      </a:lt2>
      <a:accent1>
        <a:srgbClr val="8B2FD4"/>
      </a:accent1>
      <a:accent2>
        <a:srgbClr val="E3018C"/>
      </a:accent2>
      <a:accent3>
        <a:srgbClr val="4FB700"/>
      </a:accent3>
      <a:accent4>
        <a:srgbClr val="098FB7"/>
      </a:accent4>
      <a:accent5>
        <a:srgbClr val="5797FE"/>
      </a:accent5>
      <a:accent6>
        <a:srgbClr val="242853"/>
      </a:accent6>
      <a:hlink>
        <a:srgbClr val="8B2FD4"/>
      </a:hlink>
      <a:folHlink>
        <a:srgbClr val="E3018C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ection Title_ICS_NHS">
  <a:themeElements>
    <a:clrScheme name="NCL ICS">
      <a:dk1>
        <a:srgbClr val="242853"/>
      </a:dk1>
      <a:lt1>
        <a:srgbClr val="FFFFFF"/>
      </a:lt1>
      <a:dk2>
        <a:srgbClr val="242853"/>
      </a:dk2>
      <a:lt2>
        <a:srgbClr val="FEFFFF"/>
      </a:lt2>
      <a:accent1>
        <a:srgbClr val="8B2FD4"/>
      </a:accent1>
      <a:accent2>
        <a:srgbClr val="E3018C"/>
      </a:accent2>
      <a:accent3>
        <a:srgbClr val="4FB700"/>
      </a:accent3>
      <a:accent4>
        <a:srgbClr val="098FB7"/>
      </a:accent4>
      <a:accent5>
        <a:srgbClr val="5797FE"/>
      </a:accent5>
      <a:accent6>
        <a:srgbClr val="242853"/>
      </a:accent6>
      <a:hlink>
        <a:srgbClr val="8B2FD4"/>
      </a:hlink>
      <a:folHlink>
        <a:srgbClr val="E3018C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Content Slide_ICS">
  <a:themeElements>
    <a:clrScheme name="ICS">
      <a:dk1>
        <a:srgbClr val="242853"/>
      </a:dk1>
      <a:lt1>
        <a:sysClr val="window" lastClr="FFFFFF"/>
      </a:lt1>
      <a:dk2>
        <a:srgbClr val="000000"/>
      </a:dk2>
      <a:lt2>
        <a:srgbClr val="E7E6E6"/>
      </a:lt2>
      <a:accent1>
        <a:srgbClr val="8136CD"/>
      </a:accent1>
      <a:accent2>
        <a:srgbClr val="D12D8A"/>
      </a:accent2>
      <a:accent3>
        <a:srgbClr val="6CB52D"/>
      </a:accent3>
      <a:accent4>
        <a:srgbClr val="408DB4"/>
      </a:accent4>
      <a:accent5>
        <a:srgbClr val="6796F7"/>
      </a:accent5>
      <a:accent6>
        <a:srgbClr val="242853"/>
      </a:accent6>
      <a:hlink>
        <a:srgbClr val="0563C1"/>
      </a:hlink>
      <a:folHlink>
        <a:srgbClr val="954F72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tent Slide_ICS_NHS">
  <a:themeElements>
    <a:clrScheme name="NCL ICS">
      <a:dk1>
        <a:srgbClr val="242853"/>
      </a:dk1>
      <a:lt1>
        <a:srgbClr val="FFFFFF"/>
      </a:lt1>
      <a:dk2>
        <a:srgbClr val="242853"/>
      </a:dk2>
      <a:lt2>
        <a:srgbClr val="FEFFFF"/>
      </a:lt2>
      <a:accent1>
        <a:srgbClr val="8B2FD4"/>
      </a:accent1>
      <a:accent2>
        <a:srgbClr val="E3018C"/>
      </a:accent2>
      <a:accent3>
        <a:srgbClr val="4FB700"/>
      </a:accent3>
      <a:accent4>
        <a:srgbClr val="098FB7"/>
      </a:accent4>
      <a:accent5>
        <a:srgbClr val="5797FE"/>
      </a:accent5>
      <a:accent6>
        <a:srgbClr val="242853"/>
      </a:accent6>
      <a:hlink>
        <a:srgbClr val="8B2FD4"/>
      </a:hlink>
      <a:folHlink>
        <a:srgbClr val="E3018C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st_Theme">
  <a:themeElements>
    <a:clrScheme name="ICS">
      <a:dk1>
        <a:srgbClr val="242853"/>
      </a:dk1>
      <a:lt1>
        <a:sysClr val="window" lastClr="FFFFFF"/>
      </a:lt1>
      <a:dk2>
        <a:srgbClr val="000000"/>
      </a:dk2>
      <a:lt2>
        <a:srgbClr val="E7E6E6"/>
      </a:lt2>
      <a:accent1>
        <a:srgbClr val="8136CD"/>
      </a:accent1>
      <a:accent2>
        <a:srgbClr val="D12D8A"/>
      </a:accent2>
      <a:accent3>
        <a:srgbClr val="6CB52D"/>
      </a:accent3>
      <a:accent4>
        <a:srgbClr val="408DB4"/>
      </a:accent4>
      <a:accent5>
        <a:srgbClr val="6796F7"/>
      </a:accent5>
      <a:accent6>
        <a:srgbClr val="242853"/>
      </a:accent6>
      <a:hlink>
        <a:srgbClr val="0563C1"/>
      </a:hlink>
      <a:folHlink>
        <a:srgbClr val="954F72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_Theme" id="{422E6982-7289-4707-9130-280A5F80002E}" vid="{A119E3BA-09BC-4FFF-9D84-9DE2791AE497}"/>
    </a:ext>
  </a:extLst>
</a:theme>
</file>

<file path=ppt/theme/theme7.xml><?xml version="1.0" encoding="utf-8"?>
<a:theme xmlns:a="http://schemas.openxmlformats.org/drawingml/2006/main" name="1_Section Title_ICS">
  <a:themeElements>
    <a:clrScheme name="NCL ICS">
      <a:dk1>
        <a:srgbClr val="242853"/>
      </a:dk1>
      <a:lt1>
        <a:srgbClr val="FFFFFF"/>
      </a:lt1>
      <a:dk2>
        <a:srgbClr val="242853"/>
      </a:dk2>
      <a:lt2>
        <a:srgbClr val="FEFFFF"/>
      </a:lt2>
      <a:accent1>
        <a:srgbClr val="8B2FD4"/>
      </a:accent1>
      <a:accent2>
        <a:srgbClr val="E3018C"/>
      </a:accent2>
      <a:accent3>
        <a:srgbClr val="4FB700"/>
      </a:accent3>
      <a:accent4>
        <a:srgbClr val="098FB7"/>
      </a:accent4>
      <a:accent5>
        <a:srgbClr val="5797FE"/>
      </a:accent5>
      <a:accent6>
        <a:srgbClr val="242853"/>
      </a:accent6>
      <a:hlink>
        <a:srgbClr val="8B2FD4"/>
      </a:hlink>
      <a:folHlink>
        <a:srgbClr val="E3018C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1_Section Title_ICS_NHS">
  <a:themeElements>
    <a:clrScheme name="NCL ICS">
      <a:dk1>
        <a:srgbClr val="242853"/>
      </a:dk1>
      <a:lt1>
        <a:srgbClr val="FFFFFF"/>
      </a:lt1>
      <a:dk2>
        <a:srgbClr val="242853"/>
      </a:dk2>
      <a:lt2>
        <a:srgbClr val="FEFFFF"/>
      </a:lt2>
      <a:accent1>
        <a:srgbClr val="8B2FD4"/>
      </a:accent1>
      <a:accent2>
        <a:srgbClr val="E3018C"/>
      </a:accent2>
      <a:accent3>
        <a:srgbClr val="4FB700"/>
      </a:accent3>
      <a:accent4>
        <a:srgbClr val="098FB7"/>
      </a:accent4>
      <a:accent5>
        <a:srgbClr val="5797FE"/>
      </a:accent5>
      <a:accent6>
        <a:srgbClr val="242853"/>
      </a:accent6>
      <a:hlink>
        <a:srgbClr val="8B2FD4"/>
      </a:hlink>
      <a:folHlink>
        <a:srgbClr val="E3018C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1_Content Slide_ICS">
  <a:themeElements>
    <a:clrScheme name="ICS">
      <a:dk1>
        <a:srgbClr val="242853"/>
      </a:dk1>
      <a:lt1>
        <a:sysClr val="window" lastClr="FFFFFF"/>
      </a:lt1>
      <a:dk2>
        <a:srgbClr val="000000"/>
      </a:dk2>
      <a:lt2>
        <a:srgbClr val="E7E6E6"/>
      </a:lt2>
      <a:accent1>
        <a:srgbClr val="8136CD"/>
      </a:accent1>
      <a:accent2>
        <a:srgbClr val="D12D8A"/>
      </a:accent2>
      <a:accent3>
        <a:srgbClr val="6CB52D"/>
      </a:accent3>
      <a:accent4>
        <a:srgbClr val="408DB4"/>
      </a:accent4>
      <a:accent5>
        <a:srgbClr val="6796F7"/>
      </a:accent5>
      <a:accent6>
        <a:srgbClr val="242853"/>
      </a:accent6>
      <a:hlink>
        <a:srgbClr val="0563C1"/>
      </a:hlink>
      <a:folHlink>
        <a:srgbClr val="954F72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1_Content Slide_ICS_NHS">
  <a:themeElements>
    <a:clrScheme name="NCL ICS">
      <a:dk1>
        <a:srgbClr val="242853"/>
      </a:dk1>
      <a:lt1>
        <a:srgbClr val="FFFFFF"/>
      </a:lt1>
      <a:dk2>
        <a:srgbClr val="242853"/>
      </a:dk2>
      <a:lt2>
        <a:srgbClr val="FEFFFF"/>
      </a:lt2>
      <a:accent1>
        <a:srgbClr val="8B2FD4"/>
      </a:accent1>
      <a:accent2>
        <a:srgbClr val="E3018C"/>
      </a:accent2>
      <a:accent3>
        <a:srgbClr val="4FB700"/>
      </a:accent3>
      <a:accent4>
        <a:srgbClr val="098FB7"/>
      </a:accent4>
      <a:accent5>
        <a:srgbClr val="5797FE"/>
      </a:accent5>
      <a:accent6>
        <a:srgbClr val="242853"/>
      </a:accent6>
      <a:hlink>
        <a:srgbClr val="8B2FD4"/>
      </a:hlink>
      <a:folHlink>
        <a:srgbClr val="E3018C"/>
      </a:folHlink>
    </a:clrScheme>
    <a:fontScheme name="Custom 1">
      <a:majorFont>
        <a:latin typeface="Mulish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NCL 2425</Template>
  <TotalTime>71</TotalTime>
  <Words>346</Words>
  <Application>Microsoft Office PowerPoint</Application>
  <PresentationFormat>Widescreen</PresentationFormat>
  <Paragraphs>58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Aptos</vt:lpstr>
      <vt:lpstr>Arial</vt:lpstr>
      <vt:lpstr>NCL 2425</vt:lpstr>
      <vt:lpstr>Section Title_ICS</vt:lpstr>
      <vt:lpstr>Section Title_ICS_NHS</vt:lpstr>
      <vt:lpstr>Content Slide_ICS</vt:lpstr>
      <vt:lpstr>Content Slide_ICS_NHS</vt:lpstr>
      <vt:lpstr>Test_Theme</vt:lpstr>
      <vt:lpstr>1_Section Title_ICS</vt:lpstr>
      <vt:lpstr>1_Section Title_ICS_NHS</vt:lpstr>
      <vt:lpstr>1_Content Slide_ICS</vt:lpstr>
      <vt:lpstr>1_Content Slide_ICS_NHS</vt:lpstr>
      <vt:lpstr>Understanding the Drivers of Length of Stay  Jake Kealey on behalf of North Central London ICB - #6010</vt:lpstr>
      <vt:lpstr>Context and Motivation</vt:lpstr>
      <vt:lpstr>Lessons Learnt from Existing Research Literature</vt:lpstr>
      <vt:lpstr>The Python Pipeline and Design</vt:lpstr>
      <vt:lpstr>Model Performance and Predictions</vt:lpstr>
      <vt:lpstr>Key Reflections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KEALEY, Jake (NHS NORTH CENTRAL LONDON ICB - 93C)</dc:creator>
  <cp:lastModifiedBy>KEALEY, Jake (NHS NORTH CENTRAL LONDON ICB - 93C)</cp:lastModifiedBy>
  <cp:revision>2</cp:revision>
  <dcterms:created xsi:type="dcterms:W3CDTF">2025-06-23T12:33:32Z</dcterms:created>
  <dcterms:modified xsi:type="dcterms:W3CDTF">2025-06-23T13:44:54Z</dcterms:modified>
</cp:coreProperties>
</file>